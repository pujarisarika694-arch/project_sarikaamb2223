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Export Value Trend (USD Million)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 Value (USD M)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285</c:v>
                </c:pt>
                <c:pt idx="1">
                  <c:v>298</c:v>
                </c:pt>
                <c:pt idx="2">
                  <c:v>315</c:v>
                </c:pt>
                <c:pt idx="3">
                  <c:v>330</c:v>
                </c:pt>
                <c:pt idx="4">
                  <c:v>352</c:v>
                </c:pt>
                <c:pt idx="5">
                  <c:v>368</c:v>
                </c:pt>
                <c:pt idx="6">
                  <c:v>390</c:v>
                </c:pt>
                <c:pt idx="7">
                  <c:v>410</c:v>
                </c:pt>
                <c:pt idx="8">
                  <c:v>438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State-wise Production Share (%)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332"/>
              </a:solidFill>
              <a:effectLst/>
            </c:spPr>
          </c:dPt>
          <c:dPt>
            <c:idx val="1"/>
            <c:bubble3D val="0"/>
            <c:spPr>
              <a:solidFill>
                <a:srgbClr val="2D6A4F"/>
              </a:solidFill>
              <a:effectLst/>
            </c:spPr>
          </c:dPt>
          <c:dPt>
            <c:idx val="2"/>
            <c:bubble3D val="0"/>
            <c:spPr>
              <a:solidFill>
                <a:srgbClr val="52B788"/>
              </a:solidFill>
              <a:effectLst/>
            </c:spPr>
          </c:dPt>
          <c:dPt>
            <c:idx val="3"/>
            <c:bubble3D val="0"/>
            <c:spPr>
              <a:solidFill>
                <a:srgbClr val="D4A017"/>
              </a:solidFill>
              <a:effectLst/>
            </c:spPr>
          </c:dPt>
          <c:dPt>
            <c:idx val="4"/>
            <c:bubble3D val="0"/>
            <c:spPr>
              <a:solidFill>
                <a:srgbClr val="B2BEC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Tamil Nadu</c:v>
                </c:pt>
                <c:pt idx="1">
                  <c:v>Karnataka</c:v>
                </c:pt>
                <c:pt idx="2">
                  <c:v>Kerala</c:v>
                </c:pt>
                <c:pt idx="3">
                  <c:v>Andhra Pradesh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32</c:v>
                </c:pt>
                <c:pt idx="1">
                  <c:v>20</c:v>
                </c:pt>
                <c:pt idx="2">
                  <c:v>16</c:v>
                </c:pt>
                <c:pt idx="3">
                  <c:v>13</c:v>
                </c:pt>
                <c:pt idx="4">
                  <c:v>19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 (t/ha)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Kerala</c:v>
                  </c:pt>
                  <c:pt idx="1">
                    <c:v>Goa</c:v>
                  </c:pt>
                  <c:pt idx="2">
                    <c:v>TN</c:v>
                  </c:pt>
                  <c:pt idx="3">
                    <c:v>KA</c:v>
                  </c:pt>
                  <c:pt idx="4">
                    <c:v>AP</c:v>
                  </c:pt>
                  <c:pt idx="5">
                    <c:v>MH</c:v>
                  </c:pt>
                  <c:pt idx="6">
                    <c:v>OD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1.45</c:v>
                </c:pt>
                <c:pt idx="1">
                  <c:v>1.299</c:v>
                </c:pt>
                <c:pt idx="2">
                  <c:v>1.278</c:v>
                </c:pt>
                <c:pt idx="3">
                  <c:v>1.276</c:v>
                </c:pt>
                <c:pt idx="4">
                  <c:v>0.619</c:v>
                </c:pt>
                <c:pt idx="5">
                  <c:v>0.534</c:v>
                </c:pt>
                <c:pt idx="6">
                  <c:v>0.462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R² Score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636E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36E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Linear Reg.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0.7871</c:v>
                </c:pt>
                <c:pt idx="1">
                  <c:v>0.8962</c:v>
                </c:pt>
                <c:pt idx="2">
                  <c:v>0.9553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MAPE % (lower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Linear Reg.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21.4</c:v>
                </c:pt>
                <c:pt idx="1">
                  <c:v>8.2</c:v>
                </c:pt>
                <c:pt idx="2">
                  <c:v>2.96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Random Forest Feature Importance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spPr>
            <a:solidFill>
              <a:srgbClr val="B2BEC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2BEC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Area</c:v>
                  </c:pt>
                  <c:pt idx="1">
                    <c:v>Production</c:v>
                  </c:pt>
                  <c:pt idx="2">
                    <c:v>Export Quantity</c:v>
                  </c:pt>
                  <c:pt idx="3">
                    <c:v>Export Value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14.5</c:v>
                </c:pt>
                <c:pt idx="1">
                  <c:v>25.4</c:v>
                </c:pt>
                <c:pt idx="2">
                  <c:v>28.9</c:v>
                </c:pt>
                <c:pt idx="3">
                  <c:v>31.2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MAPE vs Literature Benchmark (5-15%)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MAPE (%)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Linear Reg.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21.4</c:v>
                </c:pt>
                <c:pt idx="1">
                  <c:v>8.2</c:v>
                </c:pt>
                <c:pt idx="2">
                  <c:v>2.96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Lit. Benchmark (5%)</c:v>
                </c:pt>
              </c:strCache>
            </c:strRef>
          </c:tx>
          <c:spPr>
            <a:solidFill>
              <a:srgbClr val="D4A017"/>
            </a:solidFill>
            <a:ln w="31750" cap="flat">
              <a:solidFill>
                <a:srgbClr val="D4A0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Linear Reg.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005840"/>
            <a:ext cx="8823960" cy="2743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457200"/>
            <a:ext cx="2560320" cy="2560320"/>
          </a:xfrm>
          <a:prstGeom prst="ellipse">
            <a:avLst/>
          </a:prstGeom>
          <a:solidFill>
            <a:srgbClr val="52B788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D4A017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AGRO AI FOR CASHEW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286000" y="2011680"/>
            <a:ext cx="4572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Productivity &amp; Global Export Strategies Using Machine 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EAI-421  |  Dr. D.R Kumar Raja  |  REVA University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27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MAITHARI (AMB2127)  |  SARIKA (AMB2223)  |  Group 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</a:rPr>
              <a:t>IV Year B.Sc. (Hons.) Agriculture  |  2025-2026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480560"/>
            <a:ext cx="8823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2BEC3"/>
                </a:solidFill>
              </a:rPr>
              <a:t>University of Agricultural Sciences, College of Agriculture, GKVK, Bangalore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overview of the presentation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384048" cy="3474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23444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2710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2710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Slide 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728216"/>
            <a:ext cx="384048" cy="3474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172821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1764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Objectives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17647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Slide 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221992"/>
            <a:ext cx="384048" cy="3474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" y="222199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258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Cashew — Key Statistics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22585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Slide 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715768"/>
            <a:ext cx="384048" cy="3474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2715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27523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EDA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275234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Slide 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209544"/>
            <a:ext cx="384048" cy="3474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" y="320954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Data &amp; Preprocessing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0" y="32461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Slide 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3703320"/>
            <a:ext cx="384048" cy="3474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" y="37033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37398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Correlation Analysis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06240" y="37398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Slide 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4197096"/>
            <a:ext cx="384048" cy="3474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" y="419709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42336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ML Pipeline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06240" y="4233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Slide 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1234440"/>
            <a:ext cx="384048" cy="34747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123444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0" y="12710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03920" y="12710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Slide 10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1728216"/>
            <a:ext cx="384048" cy="34747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172821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0" y="17647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&amp; Metrics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03920" y="17647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Slide 11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2221992"/>
            <a:ext cx="384048" cy="34747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222199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0" y="2258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503920" y="22585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Slide 12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2715768"/>
            <a:ext cx="384048" cy="34747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2715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03520" y="27523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&amp; Residuals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503920" y="275234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Slide 13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46320" y="3209544"/>
            <a:ext cx="384048" cy="34747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2" name="Text 50"/>
          <p:cNvSpPr/>
          <p:nvPr/>
        </p:nvSpPr>
        <p:spPr>
          <a:xfrm>
            <a:off x="4846320" y="320954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0352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&amp; Recommendations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503920" y="32461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Slide 14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46320" y="3703320"/>
            <a:ext cx="384048" cy="34747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6" name="Text 54"/>
          <p:cNvSpPr/>
          <p:nvPr/>
        </p:nvSpPr>
        <p:spPr>
          <a:xfrm>
            <a:off x="4846320" y="37033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03520" y="3739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503920" y="37398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Slide 15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46320" y="4197096"/>
            <a:ext cx="384048" cy="34747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0" name="Text 58"/>
          <p:cNvSpPr/>
          <p:nvPr/>
        </p:nvSpPr>
        <p:spPr>
          <a:xfrm>
            <a:off x="4846320" y="419709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303520" y="4233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503920" y="4233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Slide 16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1188720"/>
            <a:ext cx="36576" cy="3657600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64" name="Text 62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Cashew (Anacardium occidentale) — India's premier horticultural export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743200" cy="1188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34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792,000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8013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</a:rPr>
              <a:t>Tonnes/Year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0299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Annual Production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743200" cy="1188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234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1.025M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0" y="18013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</a:rPr>
              <a:t>Hectares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20299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Cultivation Area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743200" cy="1188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234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USD 438M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18013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</a:rPr>
              <a:t>Annually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0299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Export Revenue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4592" y="2514600"/>
            <a:ext cx="128016" cy="12801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48716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the world's largest cashew producer and 2nd largest exporter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64592" y="2907792"/>
            <a:ext cx="128016" cy="12801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8803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producing states: Kerala, Karnataka, Tamil Nadu, Goa, Andhra Pradesh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64592" y="3300984"/>
            <a:ext cx="128016" cy="12801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2735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yield estimation is slow, inaccurate &amp; cannot model complex relationships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128016" cy="12801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666744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offer a transformative, data-driven solution for precision agriculture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64592" y="4087368"/>
            <a:ext cx="128016" cy="12801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059936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applies Linear Regression, Decision Tree &amp; Random Forest to predict cashew yield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64592" y="4480560"/>
            <a:ext cx="128016" cy="12801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4531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Area, Production, Export Quantity, Export Value → Target: Yield (t/ha)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traditional estimation and AI-driven forecasting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143000"/>
            <a:ext cx="4206240" cy="20116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1430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⚠ 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27632"/>
            <a:ext cx="4023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methods fail to capture nonlinear area–production–export dynamics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2112264"/>
            <a:ext cx="4023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&amp; exporters lack reliable advance yield forecasting tools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596896"/>
            <a:ext cx="4023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63 observations across 7 states over 9 years (2015–2024)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4297680" cy="2011680"/>
          </a:xfrm>
          <a:prstGeom prst="rect">
            <a:avLst/>
          </a:prstGeom>
          <a:solidFill>
            <a:srgbClr val="F8F4E3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1430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✔  OBJECTIVES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6002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preprocess &amp; explore real-world cashew data (NHB &amp; APEDA)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1984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3 ML models (80/20 split, random_state=42)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236829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5 metrics: MAE, MSE, RMSE, MAPE, R²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27523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best model and derive actionable agri-policy insights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2880" y="3291840"/>
            <a:ext cx="8778240" cy="6400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" y="329184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CAGR of Indian Cashew Exports: 5.5%  |  Yield Gap: Kerala 1.45 t/ha vs. Andhra Pradesh 0.62 t/ha  |  ML can close this gap!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Dataset Split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4315968"/>
            <a:ext cx="5852160" cy="36576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431596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  80%  —  50 observations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4315968"/>
            <a:ext cx="2926080" cy="365760"/>
          </a:xfrm>
          <a:prstGeom prst="rect">
            <a:avLst/>
          </a:prstGeom>
          <a:solidFill>
            <a:srgbClr val="E09200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43159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 20%  —  13 obs.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Cashew — Key Statistics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growth trajectory and state-wise production share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82880" y="118872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5349240" y="1188720"/>
          <a:ext cx="35661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NHB + APEDA state-wise data spanning 2015–2024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143000"/>
            <a:ext cx="210312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143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</a:rPr>
              <a:t>Sources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1463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NHB + APEDA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23160" y="1143000"/>
            <a:ext cx="210312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1143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</a:rPr>
              <a:t>Period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1463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2015 – 2024 (9 yrs)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210312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143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</a:rPr>
              <a:t>States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463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7 Major States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1143000"/>
            <a:ext cx="210312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143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</a:rPr>
              <a:t>Observations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03720" y="1463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63 (after cleaning)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084832"/>
          <a:ext cx="8778240" cy="283464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371600"/>
                <a:gridCol w="41148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/ 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Thousand hectares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Cultivation land under cashew per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Thousand tonnes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raw cashew nuts produced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Quantity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of cashew exported internationally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Million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generated from cashew exports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(t/ha)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Tonnes/hectare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 per unit area — the variable we predict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State-wise Data &amp; Preprocessing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2023-24 | Yield comparison across Indian cashew-producing states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" y="1143000"/>
          <a:ext cx="6858000" cy="347472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914400"/>
                <a:gridCol w="960120"/>
                <a:gridCol w="960120"/>
                <a:gridCol w="9144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(k ha)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Prod. (k 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Exp. Qty (t)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Exp. Val ($M)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(t/ha)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Kerala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1.450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Tamil Nadu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Andhra Pradesh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Maharashtra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Odisha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0.462 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7086600" y="1143000"/>
          <a:ext cx="1965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109728" y="4645152"/>
            <a:ext cx="8942832" cy="384048"/>
          </a:xfrm>
          <a:prstGeom prst="rect">
            <a:avLst/>
          </a:prstGeom>
          <a:solidFill>
            <a:srgbClr val="F8F4E3"/>
          </a:solidFill>
          <a:ln/>
        </p:spPr>
      </p:sp>
      <p:sp>
        <p:nvSpPr>
          <p:cNvPr id="10" name="Text 6"/>
          <p:cNvSpPr/>
          <p:nvPr/>
        </p:nvSpPr>
        <p:spPr>
          <a:xfrm>
            <a:off x="137160" y="4663440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 3 missing values imputed (mean)  |  2 outliers retained (valid extremes)  |  No scaling needed for tree models  |  Label encoding not required (numerical features only)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&amp; Correlation Analysis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Exploratory Data Analysis — Pearson correlations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70432"/>
          <a:ext cx="4389120" cy="2468880"/>
        </p:xfrm>
        <a:graphic>
          <a:graphicData uri="http://schemas.openxmlformats.org/drawingml/2006/table">
            <a:tbl>
              <a:tblPr/>
              <a:tblGrid>
                <a:gridCol w="1005840"/>
                <a:gridCol w="850392"/>
                <a:gridCol w="850392"/>
                <a:gridCol w="850392"/>
                <a:gridCol w="850392"/>
                <a:gridCol w="85039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Exp.Qty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Exp.Val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Exp.Qty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Exp.Val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82880" y="367588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36E72"/>
                </a:solidFill>
              </a:rPr>
              <a:t>Pearson Correlation Matrix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54880" y="11704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CORRELATIONS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572768"/>
            <a:ext cx="64008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1572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+0.88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0" y="15727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</a:rPr>
              <a:t>Export Value ↔ Production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0" y="18288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Strongest driver of exports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2231136"/>
            <a:ext cx="64008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23113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+0.81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0" y="22311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</a:rPr>
              <a:t>Production ↔ Export Qty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0" y="24871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Output directly feeds exports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2889504"/>
            <a:ext cx="64008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6"/>
          <p:cNvSpPr/>
          <p:nvPr/>
        </p:nvSpPr>
        <p:spPr>
          <a:xfrm>
            <a:off x="4754880" y="28895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+0.71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0" y="28895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</a:rPr>
              <a:t>Export Value ↔ Yield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0" y="314553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Best predictor of yield quality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54880" y="3547872"/>
            <a:ext cx="64008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0" y="35478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−0.41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486400" y="3547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</a:rPr>
              <a:t>Area ↔ Yield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0" y="380390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More land ≠ better productivity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82880" y="3977640"/>
            <a:ext cx="8778240" cy="1005840"/>
          </a:xfrm>
          <a:prstGeom prst="rect">
            <a:avLst/>
          </a:prstGeom>
          <a:solidFill>
            <a:srgbClr val="F8F4E3"/>
          </a:solidFill>
          <a:ln/>
        </p:spPr>
      </p:sp>
      <p:sp>
        <p:nvSpPr>
          <p:cNvPr id="27" name="Text 24"/>
          <p:cNvSpPr/>
          <p:nvPr/>
        </p:nvSpPr>
        <p:spPr>
          <a:xfrm>
            <a:off x="320040" y="39776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KEY EDA FINDINGS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20040" y="42793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Kerala: Highest yield (1.450 t/ha) — fertile laterite soils + 3,000mm annual rainfall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20040" y="449884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Tamil Nadu: Largest production share (32%) but moderate yield — vast area, varied soil quality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20040" y="4718304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value grew USD 285M (2015) → USD 438M (2023) — CAGR 5.5% over 9 years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&amp; ML Pipeline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data-to-decision workflow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1280160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801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" y="1709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Collection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2880" y="2148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NHB &amp; APEDA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2015-2024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63040" y="1828800"/>
            <a:ext cx="164592" cy="1828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1453896" y="1801368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017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27632" y="1234440"/>
            <a:ext cx="1280160" cy="13716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Shape 13"/>
          <p:cNvSpPr/>
          <p:nvPr/>
        </p:nvSpPr>
        <p:spPr>
          <a:xfrm>
            <a:off x="2084832" y="12801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084832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27632" y="1709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Pre-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processing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627632" y="2148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Impute → Split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80/20 | seed=42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07792" y="1828800"/>
            <a:ext cx="164592" cy="1828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2898648" y="1801368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017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072384" y="1234440"/>
            <a:ext cx="1280160" cy="13716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9584" y="12801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529584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72384" y="1709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EDA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72384" y="2148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Correlations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Distributions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52544" y="1828800"/>
            <a:ext cx="164592" cy="1828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7" name="Text 25"/>
          <p:cNvSpPr/>
          <p:nvPr/>
        </p:nvSpPr>
        <p:spPr>
          <a:xfrm>
            <a:off x="4343400" y="1801368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017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17136" y="1234440"/>
            <a:ext cx="1280160" cy="1371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9" name="Shape 27"/>
          <p:cNvSpPr/>
          <p:nvPr/>
        </p:nvSpPr>
        <p:spPr>
          <a:xfrm>
            <a:off x="4974336" y="12801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974336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17136" y="1709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Training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17136" y="2148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 Algorithms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Same train set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97296" y="1828800"/>
            <a:ext cx="164592" cy="1828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4" name="Text 32"/>
          <p:cNvSpPr/>
          <p:nvPr/>
        </p:nvSpPr>
        <p:spPr>
          <a:xfrm>
            <a:off x="5788152" y="1801368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017"/>
                </a:solidFill>
              </a:rPr>
              <a:t>▶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61888" y="1234440"/>
            <a:ext cx="1280160" cy="1371600"/>
          </a:xfrm>
          <a:prstGeom prst="rect">
            <a:avLst/>
          </a:prstGeom>
          <a:solidFill>
            <a:srgbClr val="E092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419088" y="12801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419088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9200"/>
                </a:solidFill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61888" y="1709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Evaluation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961888" y="2148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MAE, MSE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RMSE, MAPE, R²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42048" y="1828800"/>
            <a:ext cx="164592" cy="1828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1" name="Text 39"/>
          <p:cNvSpPr/>
          <p:nvPr/>
        </p:nvSpPr>
        <p:spPr>
          <a:xfrm>
            <a:off x="7232904" y="1801368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017"/>
                </a:solidFill>
              </a:rPr>
              <a:t>▶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406640" y="1234440"/>
            <a:ext cx="1280160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3" name="Shape 41"/>
          <p:cNvSpPr/>
          <p:nvPr/>
        </p:nvSpPr>
        <p:spPr>
          <a:xfrm>
            <a:off x="7863840" y="12801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786384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406640" y="1709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Interpretation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406640" y="2148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Feature Imp.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Residuals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8288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MODELS COMPARED: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82880" y="3218688"/>
            <a:ext cx="2743200" cy="1691640"/>
          </a:xfrm>
          <a:prstGeom prst="rect">
            <a:avLst/>
          </a:prstGeom>
          <a:solidFill>
            <a:srgbClr val="636E72"/>
          </a:solidFill>
          <a:ln/>
        </p:spPr>
      </p:sp>
      <p:sp>
        <p:nvSpPr>
          <p:cNvPr id="49" name="Text 47"/>
          <p:cNvSpPr/>
          <p:nvPr/>
        </p:nvSpPr>
        <p:spPr>
          <a:xfrm>
            <a:off x="182880" y="32735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Linear Regression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8288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Baseline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(assumes linearity)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206240"/>
            <a:ext cx="25603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" y="4206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E72"/>
                </a:solidFill>
              </a:rPr>
              <a:t>●  Baseline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108960" y="3218688"/>
            <a:ext cx="2743200" cy="16916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4" name="Text 52"/>
          <p:cNvSpPr/>
          <p:nvPr/>
        </p:nvSpPr>
        <p:spPr>
          <a:xfrm>
            <a:off x="3108960" y="32735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Decision Tree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10896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Non-linear splits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max_depth=None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0" y="4206240"/>
            <a:ext cx="25603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3200400" y="4206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</a:rPr>
              <a:t>◆  Runner-up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035040" y="3218688"/>
            <a:ext cx="2743200" cy="16916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9" name="Text 57"/>
          <p:cNvSpPr/>
          <p:nvPr/>
        </p:nvSpPr>
        <p:spPr>
          <a:xfrm>
            <a:off x="6035040" y="32735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03504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100 estimators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(ensemble method)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26480" y="4206240"/>
            <a:ext cx="25603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6126480" y="4206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✔  Best Model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ML stack used for Agro AI cashew yield prediction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2834640" cy="1828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280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Environment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2651760" cy="1261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7556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1396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Jupyter Notebook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5237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Colab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234440"/>
            <a:ext cx="2834640" cy="1828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280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Handling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1709928"/>
            <a:ext cx="2651760" cy="1261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7556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pandas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1396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5237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scikit-learn 1.3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2834640" cy="18288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280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Visualization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709928"/>
            <a:ext cx="2651760" cy="1261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7556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matplotlib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1396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seaborn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5237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plotly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" y="3200400"/>
            <a:ext cx="2834640" cy="1828800"/>
          </a:xfrm>
          <a:prstGeom prst="rect">
            <a:avLst/>
          </a:prstGeom>
          <a:solidFill>
            <a:srgbClr val="E09200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" y="3246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ML Algorithms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3675888"/>
            <a:ext cx="2651760" cy="1261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721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LinearRegression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1056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DecisionTreeRegressor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44897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RandomForestRegressor (n=100)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54680" y="3200400"/>
            <a:ext cx="2834640" cy="1828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2" name="Text 30"/>
          <p:cNvSpPr/>
          <p:nvPr/>
        </p:nvSpPr>
        <p:spPr>
          <a:xfrm>
            <a:off x="3154680" y="3246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46120" y="3675888"/>
            <a:ext cx="2651760" cy="1261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3721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MAE, MSE, RMSE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91840" y="41056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44897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R² Score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3200400"/>
            <a:ext cx="2834640" cy="182880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3246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Sources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3675888"/>
            <a:ext cx="2651760" cy="1261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3721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NHB (nhb.gov.in)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63640" y="41056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APEDA (apeda.gov.in)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44897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agri depts.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Model Performance Metrics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on 13-observation held-out test set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70432"/>
          <a:ext cx="8778240" cy="237744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 ★ WINNER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(t/ha)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0.0776 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D5B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0.0106 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D5B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(t/ha)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0.1030 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D5B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2.96% 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D5B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0.9553 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182880" y="3657600"/>
          <a:ext cx="438912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4754880" y="3657600"/>
          <a:ext cx="420624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 &amp; Key Insights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which variables drive cashew yield prediction?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82880" y="1170432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394960" y="1170432"/>
            <a:ext cx="3520440" cy="685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" name="Text 6"/>
          <p:cNvSpPr/>
          <p:nvPr/>
        </p:nvSpPr>
        <p:spPr>
          <a:xfrm>
            <a:off x="5394960" y="117043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1st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80760" y="1170432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31.2%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132320" y="117043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Export Value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394960" y="1947672"/>
            <a:ext cx="352044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0"/>
          <p:cNvSpPr/>
          <p:nvPr/>
        </p:nvSpPr>
        <p:spPr>
          <a:xfrm>
            <a:off x="5394960" y="194767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2nd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80760" y="1947672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28.9%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132320" y="194767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Export Quantity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394960" y="2724912"/>
            <a:ext cx="3520440" cy="6858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7" name="Text 14"/>
          <p:cNvSpPr/>
          <p:nvPr/>
        </p:nvSpPr>
        <p:spPr>
          <a:xfrm>
            <a:off x="5394960" y="272491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3rd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080760" y="2724912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25.4%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132320" y="272491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Production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394960" y="3502152"/>
            <a:ext cx="3520440" cy="685800"/>
          </a:xfrm>
          <a:prstGeom prst="rect">
            <a:avLst/>
          </a:prstGeom>
          <a:solidFill>
            <a:srgbClr val="636E72"/>
          </a:solidFill>
          <a:ln/>
        </p:spPr>
      </p:sp>
      <p:sp>
        <p:nvSpPr>
          <p:cNvPr id="21" name="Text 18"/>
          <p:cNvSpPr/>
          <p:nvPr/>
        </p:nvSpPr>
        <p:spPr>
          <a:xfrm>
            <a:off x="5394960" y="350215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4th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080760" y="3502152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14.5%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132320" y="350215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Area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182880" y="4434840"/>
            <a:ext cx="8778240" cy="5669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445312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KEY INSIGHT: Economic variables (Export Value + Qty) account for 60.1% of predictive power. Area alone is the weakest predictor — productivity focus beats area expansion!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Analysis &amp; Residual Diagnostics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validated against literature benchmarks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82880" y="1170432"/>
          <a:ext cx="5029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657600"/>
          <a:ext cx="8778240" cy="1389888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2.96%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D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Residual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−0.0023 t/ha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D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 Band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±0.06 t/ha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D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1.08x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D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Homoscedastic?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Yes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D5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394960" y="1170432"/>
            <a:ext cx="3520440" cy="71323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Text 6"/>
          <p:cNvSpPr/>
          <p:nvPr/>
        </p:nvSpPr>
        <p:spPr>
          <a:xfrm>
            <a:off x="5394960" y="12070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148132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MAPE: 2.96%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394960" y="1682496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Beats literature benchmark (5-15%)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394960" y="1975104"/>
            <a:ext cx="3520440" cy="713232"/>
          </a:xfrm>
          <a:prstGeom prst="rect">
            <a:avLst/>
          </a:prstGeom>
          <a:solidFill>
            <a:srgbClr val="E09200"/>
          </a:solidFill>
          <a:ln/>
        </p:spPr>
      </p:sp>
      <p:sp>
        <p:nvSpPr>
          <p:cNvPr id="14" name="Text 10"/>
          <p:cNvSpPr/>
          <p:nvPr/>
        </p:nvSpPr>
        <p:spPr>
          <a:xfrm>
            <a:off x="5394960" y="20116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Decision Tree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394960" y="228600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MAPE: 8.2%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94960" y="248716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Moderate overfit ratio 1.41x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394960" y="2779776"/>
            <a:ext cx="3520440" cy="7132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4"/>
          <p:cNvSpPr/>
          <p:nvPr/>
        </p:nvSpPr>
        <p:spPr>
          <a:xfrm>
            <a:off x="5394960" y="28163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Linear Reg.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394960" y="309067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MAPE: 21.4%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394960" y="3291840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Cannot capture nonlinearity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Model &amp; Policy Recommendations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R² = 0.9553 | MAPE = 2.96%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143000"/>
            <a:ext cx="3108960" cy="38404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325880"/>
            <a:ext cx="1645920" cy="1645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2588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</a:rPr>
              <a:t>★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228600" y="3017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RANDOM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FOREST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R² = 0.9553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" y="4023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D5B2"/>
                </a:solidFill>
              </a:rPr>
              <a:t>MAE = 0.0776 t/ha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297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D5B2"/>
                </a:solidFill>
              </a:rPr>
              <a:t>MAPE = 2.96%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" y="4572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2BEC3"/>
                </a:solidFill>
              </a:rPr>
              <a:t>100 Trees | Ensemble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1170432"/>
            <a:ext cx="5486400" cy="658368"/>
          </a:xfrm>
          <a:prstGeom prst="rect">
            <a:avLst/>
          </a:prstGeom>
          <a:solidFill>
            <a:srgbClr val="F8F4E3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12070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🌿 Productivity-First Policy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14813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AP, Maharashtra, Odisha for yield improvement through precision input management rather than area expansion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1920240"/>
            <a:ext cx="54864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195681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📊 Export-Led Planning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223113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Value &amp; Qty are the strongest predictors — align farm plans with market demand 6 months ahead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2670048"/>
            <a:ext cx="5486400" cy="658368"/>
          </a:xfrm>
          <a:prstGeom prst="rect">
            <a:avLst/>
          </a:prstGeom>
          <a:solidFill>
            <a:srgbClr val="F8F4E3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270662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🤖 ML Deployment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29809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Random Forest as an APEDA/NHB web app for real-time yield forecasting by state-level agronomists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3419856"/>
            <a:ext cx="54864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4564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🛰️ Data Enrichment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0" y="373075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rainfall, soil pH, NDVI satellite imagery (Sentinel-2) to push R² beyond 0.97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4169664"/>
            <a:ext cx="5486400" cy="658368"/>
          </a:xfrm>
          <a:prstGeom prst="rect">
            <a:avLst/>
          </a:prstGeom>
          <a:solidFill>
            <a:srgbClr val="F8F4E3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42062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🏛️ Policy Integration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66160" y="4480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district-level granularity reports with state farming offices to enable targeted subsidies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the AGRO AI Cashew study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188720"/>
            <a:ext cx="50292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1887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188720"/>
            <a:ext cx="8229600" cy="548640"/>
          </a:xfrm>
          <a:prstGeom prst="rect">
            <a:avLst/>
          </a:prstGeom>
          <a:solidFill>
            <a:srgbClr val="F8F4E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234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the unequivocal best model: R²=0.9553, MAE=0.0776 t/ha, MAPE=2.96% — beating literature benchmarks of 5-15%.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" y="1938528"/>
            <a:ext cx="50292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" y="193852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1938528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98424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Value &amp; Export Quantity are the dominant yield predictors, jointly contributing 60.1% of predictive power.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82880" y="2688336"/>
            <a:ext cx="50292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268833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2688336"/>
            <a:ext cx="8229600" cy="548640"/>
          </a:xfrm>
          <a:prstGeom prst="rect">
            <a:avLst/>
          </a:prstGeom>
          <a:solidFill>
            <a:srgbClr val="F8F4E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73405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alone is a poor yield predictor (r=−0.41). Productivity-focused policy outperforms simple area expansion.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2880" y="3438144"/>
            <a:ext cx="50292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343814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1520" y="3438144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48386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precision agriculture is deployment-ready for the Indian cashew sector via NHB/APEDA digital platforms.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82880" y="4187952"/>
            <a:ext cx="50292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418795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31520" y="4187952"/>
            <a:ext cx="8229600" cy="548640"/>
          </a:xfrm>
          <a:prstGeom prst="rect">
            <a:avLst/>
          </a:prstGeom>
          <a:solidFill>
            <a:srgbClr val="F8F4E3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2336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pipeline is fully replicable for other export crops: pepper, cardamom, coffee, and coconut.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82880" y="4709160"/>
            <a:ext cx="8778240" cy="34747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</a:rPr>
              <a:t>IMPACT: This study demonstrates that ML can replace traditional cashew yield estimation with 95.53% accuracy — a step-change for Indian precision agriculture.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Pathways to enhance accuracy, scale, and real-world deployment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188720"/>
            <a:ext cx="283464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1887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 — Enhanced 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600200"/>
            <a:ext cx="2834640" cy="1417320"/>
          </a:xfrm>
          <a:prstGeom prst="rect">
            <a:avLst/>
          </a:prstGeom>
          <a:solidFill>
            <a:srgbClr val="F8F4E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459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rainfall, temperature, soil pH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0756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Irrigation type and water availability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5054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Fertiliser application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1188720"/>
            <a:ext cx="2834640" cy="411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3172968" y="11887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— Granularity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72968" y="1600200"/>
            <a:ext cx="2834640" cy="1417320"/>
          </a:xfrm>
          <a:prstGeom prst="rect">
            <a:avLst/>
          </a:prstGeom>
          <a:solidFill>
            <a:srgbClr val="F8F4E3"/>
          </a:solidFill>
          <a:ln/>
        </p:spPr>
      </p:sp>
      <p:sp>
        <p:nvSpPr>
          <p:cNvPr id="16" name="Text 14"/>
          <p:cNvSpPr/>
          <p:nvPr/>
        </p:nvSpPr>
        <p:spPr>
          <a:xfrm>
            <a:off x="3264408" y="16459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District-level dataset (from 7 states to 100+ districts)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64408" y="20756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Farm-scale precision agriculture interventions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64408" y="25054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Time-series modeling for seasonal forecasts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3056" y="1188720"/>
            <a:ext cx="2834640" cy="411480"/>
          </a:xfrm>
          <a:prstGeom prst="rect">
            <a:avLst/>
          </a:prstGeom>
          <a:solidFill>
            <a:srgbClr val="E09200"/>
          </a:solidFill>
          <a:ln/>
        </p:spPr>
      </p:sp>
      <p:sp>
        <p:nvSpPr>
          <p:cNvPr id="20" name="Text 18"/>
          <p:cNvSpPr/>
          <p:nvPr/>
        </p:nvSpPr>
        <p:spPr>
          <a:xfrm>
            <a:off x="6163056" y="11887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 — Advanced Models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63056" y="1600200"/>
            <a:ext cx="2834640" cy="1417320"/>
          </a:xfrm>
          <a:prstGeom prst="rect">
            <a:avLst/>
          </a:prstGeom>
          <a:solidFill>
            <a:srgbClr val="F8F4E3"/>
          </a:solidFill>
          <a:ln/>
        </p:spPr>
      </p:sp>
      <p:sp>
        <p:nvSpPr>
          <p:cNvPr id="22" name="Text 20"/>
          <p:cNvSpPr/>
          <p:nvPr/>
        </p:nvSpPr>
        <p:spPr>
          <a:xfrm>
            <a:off x="6254496" y="16459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XGBoost, LightGBM gradient boosting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54496" y="20756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LSTM time-series neural networks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54496" y="25054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Transformer architectures for multivariate forecasting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3108960"/>
            <a:ext cx="2834640" cy="41148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" y="3108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 — Satellite &amp; IoT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" y="3520440"/>
            <a:ext cx="2834640" cy="1417320"/>
          </a:xfrm>
          <a:prstGeom prst="rect">
            <a:avLst/>
          </a:prstGeom>
          <a:solidFill>
            <a:srgbClr val="F8F4E3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5661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Sentinel-2 NDVI for real-time crop health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39959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IoT soil sensors for live moisture/pH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442569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Drone imagery for disease detection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72968" y="3108960"/>
            <a:ext cx="2834640" cy="4114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2" name="Text 30"/>
          <p:cNvSpPr/>
          <p:nvPr/>
        </p:nvSpPr>
        <p:spPr>
          <a:xfrm>
            <a:off x="3172968" y="3108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5 — Deployment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72968" y="3520440"/>
            <a:ext cx="2834640" cy="1417320"/>
          </a:xfrm>
          <a:prstGeom prst="rect">
            <a:avLst/>
          </a:prstGeom>
          <a:solidFill>
            <a:srgbClr val="F8F4E3"/>
          </a:solidFill>
          <a:ln/>
        </p:spPr>
      </p:sp>
      <p:sp>
        <p:nvSpPr>
          <p:cNvPr id="34" name="Text 32"/>
          <p:cNvSpPr/>
          <p:nvPr/>
        </p:nvSpPr>
        <p:spPr>
          <a:xfrm>
            <a:off x="3264408" y="35661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APEDA/NHB web app for yield prediction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64408" y="39959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app for farmers in regional languages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64408" y="442569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integration with state agricultural portals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63056" y="3108960"/>
            <a:ext cx="2834640" cy="41148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8" name="Text 36"/>
          <p:cNvSpPr/>
          <p:nvPr/>
        </p:nvSpPr>
        <p:spPr>
          <a:xfrm>
            <a:off x="6163056" y="3108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6 — Scale-Up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63056" y="3520440"/>
            <a:ext cx="2834640" cy="1417320"/>
          </a:xfrm>
          <a:prstGeom prst="rect">
            <a:avLst/>
          </a:prstGeom>
          <a:solidFill>
            <a:srgbClr val="F8F4E3"/>
          </a:solidFill>
          <a:ln/>
        </p:spPr>
      </p:sp>
      <p:sp>
        <p:nvSpPr>
          <p:cNvPr id="40" name="Text 38"/>
          <p:cNvSpPr/>
          <p:nvPr/>
        </p:nvSpPr>
        <p:spPr>
          <a:xfrm>
            <a:off x="6254496" y="35661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Replicate for pepper, cardamom, coffee, coconut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54496" y="39959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ASEAN cashew belt (Vietnam, Tanzania)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54496" y="442569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open dataset on Kaggle/Zenodo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 &amp; Data Sources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citations and government data repositories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207008"/>
            <a:ext cx="365760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20700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Klompenburg et al. (2020). Crop yield prediction using ML: A systematic review. Computers &amp; Electronics in Agriculture, 177, 105709.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" y="1737360"/>
            <a:ext cx="365760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173736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176479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Liakos et al. (2018). Machine learning in agriculture: A review. Sensors, 18(8), 2674.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267712"/>
            <a:ext cx="365760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26771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29514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Khanal et al. (2023). Ensemble ML models for crop yield with satellite data. ISPRS Journal of Photogrammetry, 197, 12-25.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2798064"/>
            <a:ext cx="365760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279806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82549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Tiwari &amp; Mishra (2023). Comparative ML algorithms for Indian crop yield prediction. Journal of Agricultural Informatics, 14(2).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" y="3328416"/>
            <a:ext cx="365760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332841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3558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Bhojani &amp; Bhatt (2020). Random Forest and regression for crop yield forecasting India. Neural Computing &amp; Applications, 32(17).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3931920"/>
            <a:ext cx="8778240" cy="502920"/>
          </a:xfrm>
          <a:prstGeom prst="rect">
            <a:avLst/>
          </a:prstGeom>
          <a:solidFill>
            <a:srgbClr val="F8F4E3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931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DATA SOURCES: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393192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Horticulture Board (nhb.gov.in)  |  APEDA — Agricultural &amp; Processed Food Exports (apeda.gov.in)  |  State Horticulture Departments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2880" y="4526280"/>
            <a:ext cx="8778240" cy="47548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52628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ACKNOWLEDGEMENTS: Dr. D.R Kumar Raja, AI &amp; ML Course, REVA University  |  UAS College of Agriculture, GKVK, Bangalore  |  MAITHARI (AMB2127) &amp; SARIKA (AMB2223)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2D6A4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926080"/>
            <a:ext cx="2743200" cy="2743200"/>
          </a:xfrm>
          <a:prstGeom prst="ellipse">
            <a:avLst/>
          </a:prstGeom>
          <a:solidFill>
            <a:srgbClr val="D4A017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2286000" y="1874520"/>
            <a:ext cx="4572000" cy="6400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AI FOR CASHEW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Questions &amp; Discussion Welcome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3108960"/>
            <a:ext cx="2560320" cy="10058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154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MAITHARI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AMB2127 | Group 14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3108960"/>
            <a:ext cx="2560320" cy="10058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3154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SARIKA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AMB2223 | Group 14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251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</a:rPr>
              <a:t>IV Year B.Sc. (Hons.) Agriculture | 2025-2026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</a:rPr>
              <a:t>EAI-421 | Dr. D.R Kumar Raja | REVA University | UAS GKVK, Bangalore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 AI for Cashew — Group 14</dc:title>
  <dc:subject>PptxGenJS Presentation</dc:subject>
  <dc:creator>PptxGenJS</dc:creator>
  <cp:lastModifiedBy>PptxGenJS</cp:lastModifiedBy>
  <cp:revision>1</cp:revision>
  <dcterms:created xsi:type="dcterms:W3CDTF">2026-04-15T18:24:38Z</dcterms:created>
  <dcterms:modified xsi:type="dcterms:W3CDTF">2026-04-15T18:24:38Z</dcterms:modified>
</cp:coreProperties>
</file>